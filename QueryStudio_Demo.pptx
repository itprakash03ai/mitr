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103120"/>
            <a:ext cx="73152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Query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0A5FA"/>
                </a:solidFill>
                <a:latin typeface="Segoe UI"/>
              </a:defRPr>
            </a:pPr>
            <a:r>
              <a:t>Enterprise Self-Service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Query any data source. Export any format. Schedule &amp; automate.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566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v1.0  |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2926080"/>
            <a:ext cx="2590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egoe UI"/>
              </a:defRPr>
            </a:pPr>
            <a:r>
              <a:t>QS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Existing Tools Fall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Starburst, Snowflake, and Databricks are powerful engines — but they weren't designed for self-service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3832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3383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Starburst / Trino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331720"/>
            <a:ext cx="5943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340864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$$$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Expensive per-query compute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 built-in export to CSV / Excel / Parquet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12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Cannot join data across Starburst + Snowflake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51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51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 visual query builder for business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902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 scheduling or automated report 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194560"/>
            <a:ext cx="33832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2194560"/>
            <a:ext cx="338328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Snowflake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2331720"/>
            <a:ext cx="5943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340864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$$$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Pay-per-second warehouse costs add up 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273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Locked inside Snowflake — can't join with S3 Iceberg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712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712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Export requires SQL + external tooling (Python, dbt)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151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151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 native scheduling with email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902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Business users need SQL training to use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194560"/>
            <a:ext cx="33832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2194560"/>
            <a:ext cx="338328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Databricks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35640" y="2331720"/>
            <a:ext cx="5943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5640" y="2340864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$$$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Notebook-centric — not designed for ad-hoc queries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273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Cannot join Databricks tables with Snowflake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712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712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 simple export button for business users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151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151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Requires engineering to set up jobs &amp; workflows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5902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Expensive DBU costs for simple reporting queries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These are great data engines — but there's no unified layer for analysts to query across them,</a:t>
            </a:r>
            <a:br/>
            <a:r>
              <a:t>export results in one click, or schedule automated reports. That's the gap Query Studio fills.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Analysts Actually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Segoe UI"/>
              </a:defRPr>
            </a:pPr>
            <a:r>
              <a:t>DAILY ANALYST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95728"/>
            <a:ext cx="27432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50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Query across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Join fact table in S3 Iceberg with dimension</a:t>
            </a:r>
            <a:br/>
            <a:r>
              <a:t>table in Snowflake — in one query.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81528"/>
            <a:ext cx="27432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358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 SQL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918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Point-and-click: select columns, add filters,</a:t>
            </a:r>
            <a:br/>
            <a:r>
              <a:t>pick partitions — generate SQL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67328"/>
            <a:ext cx="27432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216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One-click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776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Download results as CSV, Excel, JSON, or</a:t>
            </a:r>
            <a:br/>
            <a:r>
              <a:t>Parquet. No Python scripts, no command 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453128"/>
            <a:ext cx="27432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07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Scheduled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663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Set up a cron job: run every Monday 8 AM,</a:t>
            </a:r>
            <a:br/>
            <a:r>
              <a:t>email results to the team automatically.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138928"/>
            <a:ext cx="27432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932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Fast iteration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3492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Change a filter, re-run, see results in seconds.</a:t>
            </a:r>
            <a:br/>
            <a:r>
              <a:t>Not wait 5 minutes for Starburst to spin up.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965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CAN EXISTING TOOLS DO THIS?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331720"/>
            <a:ext cx="502920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59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359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Starburst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359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Snowflake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359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Segoe UI"/>
              </a:defRPr>
            </a:pPr>
            <a:r>
              <a:t>Query Studio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743200"/>
            <a:ext cx="5029200" cy="347472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Cross-source joins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788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788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788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172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Visual query builder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1729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1729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1729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511296"/>
            <a:ext cx="5029200" cy="347472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5570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One-click CSV/Excel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5570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5570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5570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941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Parquet export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9410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9410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9410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279392"/>
            <a:ext cx="5029200" cy="347472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325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Cron scheduling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325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325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4325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Email report delivery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5047488"/>
            <a:ext cx="5029200" cy="347472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5093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Partition pruning (S3)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5093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Segoe UI"/>
              </a:defRPr>
            </a:pPr>
            <a:r>
              <a:t>~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5093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5093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5477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No per-query cost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54772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54772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54772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Query Studio fills the gap — one unified tool that works across every data source, with zero per-query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One Platform, Every Data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Query Studio connects to your entire data ecosystem through a single, browser-based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22860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19202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Amazon S3 / Iceberg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74720"/>
            <a:ext cx="19202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838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Snowflake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19202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96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Databricks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9202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153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Trino / Presto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72000"/>
            <a:ext cx="19202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811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Oracle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9202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469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Local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82F6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560320"/>
            <a:ext cx="41148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QUERY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546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Visual Query Builder — drag &amp;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747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Raw SQL Editor with IntelliSense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7947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Iceberg Partition Pruning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11479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Table Joins &amp; Aggregations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348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Real-time Preview (first 500 rows)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754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Cron Scheduler + Email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07491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Download Center (CSV, XLSX, JSON, Parquet)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82F6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560320"/>
            <a:ext cx="32004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10896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Interactive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29184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Sort, filter, paginate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4747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CSV / Excel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65760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One-click download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84048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Parquet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02336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Columnar, compressed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20624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Scheduled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3891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Cron + email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57200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Dashboard Charts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75488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Bar, line, pie, area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93776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REST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12064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Programmatic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Zero infrastructure changes required — deploys on OpenShift alongside existing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Built for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57200" cy="384048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93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Multi-Source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S3, Snowflake, Databricks, Trino, Oracle — one unified interface.</a:t>
            </a:r>
            <a:br/>
            <a:r>
              <a:t>Iceberg table support with automatic partition pruning.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3832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011680"/>
            <a:ext cx="457200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29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93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Visual Query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Point-and-click query construction. Select columns, add filters,</a:t>
            </a:r>
            <a:br/>
            <a:r>
              <a:t>joins, aggregations — no SQL knowledge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28800"/>
            <a:ext cx="33832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45720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029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993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Raw SQL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Full SQL editor with syntax highlighting for power users.</a:t>
            </a:r>
            <a:br/>
            <a:r>
              <a:t>Cross-source queries with parameterized filters.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33832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657600"/>
            <a:ext cx="457200" cy="3840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75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639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Export &amp; Download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77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Export to CSV, Excel, JSON, or Parquet. Track all downloads</a:t>
            </a:r>
            <a:br/>
            <a:r>
              <a:t>with expiry management and storage quotas.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474720"/>
            <a:ext cx="33832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657600"/>
            <a:ext cx="457200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675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639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Scheduler &amp;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977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Cron and interval scheduling with APScheduler.</a:t>
            </a:r>
            <a:br/>
            <a:r>
              <a:t>Automatic email delivery of reports to stakeholders.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3474720"/>
            <a:ext cx="33832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657600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675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639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Authentication &amp;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977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Active Directory integration. Query versioning with</a:t>
            </a:r>
            <a:br/>
            <a:r>
              <a:t>full audit trail. Role-based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From Data to Insight in 4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No engineering help needed. Any analyst can go from raw data to scheduled report in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4688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468880"/>
            <a:ext cx="548640" cy="54864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496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82F6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Pick a 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Choose from S3 Iceberg, Snowflake,</a:t>
            </a:r>
            <a:br/>
            <a:r>
              <a:t>Databricks, Trino, or Oracle.</a:t>
            </a:r>
            <a:br/>
            <a:r>
              <a:t>Connections are pre-configured by admin</a:t>
            </a:r>
            <a:br/>
            <a:r>
              <a:t>— analysts just pick from a dropdown.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286000"/>
            <a:ext cx="24688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96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Create your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4904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Visual builder: select tables, pick columns,</a:t>
            </a:r>
            <a:br/>
            <a:r>
              <a:t>add filters, set partition values.</a:t>
            </a:r>
            <a:br/>
            <a:r>
              <a:t>Or write raw SQL if you prefer.</a:t>
            </a:r>
            <a:br/>
            <a:r>
              <a:t>No coding skills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24688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246888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496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See results 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4904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First 500 rows appear in ~2 seconds.</a:t>
            </a:r>
            <a:br/>
            <a:r>
              <a:t>Full dataset loads in background.</a:t>
            </a:r>
            <a:br/>
            <a:r>
              <a:t>Sort, filter, paginate interactively.</a:t>
            </a:r>
            <a:br/>
            <a:r>
              <a:t>Preview before downloading.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2286000"/>
            <a:ext cx="24688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0" y="246888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2496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Export or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74904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One-click download: CSV, Excel, Parquet.</a:t>
            </a:r>
            <a:br/>
            <a:r>
              <a:t>Or schedule it: daily, weekly, monthly.</a:t>
            </a:r>
            <a:br/>
            <a:r>
              <a:t>Automatic email delivery to your team.</a:t>
            </a:r>
            <a:br/>
            <a:r>
              <a:t>Download Center tracks all exports.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Average time from login to first results: under 60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FEATURE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Features That Make the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4572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Visual Query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Tables &amp;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Browse registered tables, expand to see</a:t>
            </a:r>
            <a:br/>
            <a:r>
              <a:t>all columns with data types. Click to select.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Filters &amp; Joins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Add WHERE filters with dropdown operators.</a:t>
            </a:r>
            <a:br/>
            <a:r>
              <a:t>Join multiple tables on matching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78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Aggregations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342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GROUP BY, SUM, COUNT, AVG — all via</a:t>
            </a:r>
            <a:br/>
            <a:r>
              <a:t>dropdowns. No SQL syntax to remember.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828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Generated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See the auto-generated SQL in real-time.</a:t>
            </a:r>
            <a:br/>
            <a:r>
              <a:t>Power users can switch to raw SQL mode.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28800"/>
            <a:ext cx="33832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828800"/>
            <a:ext cx="338328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Iceberg &amp; Partition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Partition Pruning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249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Select only the partitions you need.</a:t>
            </a:r>
            <a:br/>
            <a:r>
              <a:t>Query reads 100 files instead of 10,000.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735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Auto Latest Partition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52958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No filter selected? Query Studio picks</a:t>
            </a:r>
            <a:br/>
            <a:r>
              <a:t>the latest partition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078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Cached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342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Partition info cached in DB (5-hour TTL).</a:t>
            </a:r>
            <a:br/>
            <a:r>
              <a:t>Background refresh every 5 hours.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828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Manifest Scanning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389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Reads Iceberg manifests to resolve</a:t>
            </a:r>
            <a:br/>
            <a:r>
              <a:t>active data files — no full table scan.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828800"/>
            <a:ext cx="33832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828800"/>
            <a:ext cx="338328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Scheduling &amp;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468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Cron Schedules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7249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Standard cron expressions: every Monday</a:t>
            </a:r>
            <a:br/>
            <a:r>
              <a:t>8 AM, first of month, every 6 hours.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735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Email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2958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Results emailed as attachments to any</a:t>
            </a:r>
            <a:br/>
            <a:r>
              <a:t>number of recipients automatically.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078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Download Center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342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All exports tracked with expiry dates.</a:t>
            </a:r>
            <a:br/>
            <a:r>
              <a:t>CSV, Excel, JSON, Parquet formats.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828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Execution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389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Full log of every query run — timing,</a:t>
            </a:r>
            <a:br/>
            <a:r>
              <a:t>row counts, status, output files.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Every feature designed to reduce time-to-insight and eliminate manual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Production-Ready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React 18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07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Material UI v7 (MUI)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55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Vite build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WebSocket real-time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Responsive (laptop to 32")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Interactive data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Dashboard with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Download center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2918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82F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Python FastAPI (async)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07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DuckDB query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55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SQLite metadata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APScheduler (cron jobs)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50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Crash-isolated subprocess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SMTP email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Prometheus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JSON structured logging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011680"/>
            <a:ext cx="32918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OpenShift / Kubernetes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07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Multi-stage Docker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255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Non-root 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Health check endpoints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50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nginx TLS termination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Rate limiting &amp; CORS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Configurable via env vars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Zero external dependencies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Single pod deployment for 10-15 users  |  Multi-pod worker architecture ready for Phase 2 scaling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Enterprise Data Source Connectors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3035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" cy="192024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Segoe UI"/>
              </a:defRPr>
            </a:pPr>
            <a:r>
              <a:t>S3 / Iceberg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Read Parquet, CSV, Iceberg tables from any S3-compatible store.</a:t>
            </a:r>
            <a:br/>
            <a:r>
              <a:t>Automatic partition pruning. DuckDB httpfs for high-throughput reads.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Parquet &amp; CSV auto-detect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Iceberg manifest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017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Partition filter push-down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735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Cached partition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035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" cy="1920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Snowflake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677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Native Snowflake connector with warehouse auto-suspend awareness.</a:t>
            </a:r>
            <a:br/>
            <a:r>
              <a:t>Large result set streaming to local Parquet.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OAuth &amp; key-pair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735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Warehouse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017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Schema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735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Result caching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53035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4864" cy="19202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330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Databricks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622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Connect to Databricks SQL warehouses.</a:t>
            </a:r>
            <a:br/>
            <a:r>
              <a:t>Unity Catalog and Hive metastore support.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12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Token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681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Catalog.schema.table browse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212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SQL warehouse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4681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Large result streaming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23360"/>
            <a:ext cx="53035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02336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1330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Trino / Oracle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4622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Enterprise Trino clusters and Oracle databases.</a:t>
            </a:r>
            <a:br/>
            <a:r>
              <a:t>Cross-source query federation.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Kerberos &amp; LDAP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4681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Catalog exploration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5212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Oracle TNS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54681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Connection pooling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Optimized for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860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  <a:latin typeface="Segoe UI"/>
              </a:defRPr>
            </a:pPr>
            <a:r>
              <a:t>&lt;2s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Preview (first 500 rows)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2860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286000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82F6"/>
                </a:solidFill>
                <a:latin typeface="Segoe UI"/>
              </a:defRPr>
            </a:pPr>
            <a:r>
              <a:t>5-min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L1 In-Memory Cache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828800"/>
            <a:ext cx="22860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828800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Segoe UI"/>
              </a:defRPr>
            </a:pPr>
            <a:r>
              <a:t>5-hour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L2 SQLite Persistent Cache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828800"/>
            <a:ext cx="22860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828800"/>
            <a:ext cx="22860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923C"/>
                </a:solidFill>
                <a:latin typeface="Segoe UI"/>
              </a:defRPr>
            </a:pPr>
            <a:r>
              <a:t>5-hour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Background Auto-Refresh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10515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Multi-Layer Caching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297680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Segoe UI"/>
              </a:defRPr>
            </a:pPr>
            <a:r>
              <a:t>L1 In-Memory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26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Partition values + Iceberg file lists. 5-min TTL.</a:t>
            </a:r>
            <a:br/>
            <a:r>
              <a:t>Instant response for repeated requests.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4297680"/>
            <a:ext cx="109728" cy="109728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82F6"/>
                </a:solidFill>
                <a:latin typeface="Segoe UI"/>
              </a:defRPr>
            </a:pPr>
            <a:r>
              <a:t>L2 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526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Persistent DB cache. 5-hour TTL.</a:t>
            </a:r>
            <a:br/>
            <a:r>
              <a:t>Survives server restarts — no cold-start penalty.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297680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Segoe UI"/>
              </a:defRPr>
            </a:pPr>
            <a:r>
              <a:t>Background Refresh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APScheduler scans ALL Iceberg tables every 5 hours.</a:t>
            </a:r>
            <a:br/>
            <a:r>
              <a:t>Pre-loads partition metadata before TTL expires.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4297680"/>
            <a:ext cx="109728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Segoe UI"/>
              </a:defRPr>
            </a:pPr>
            <a:r>
              <a:t>On-Demand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526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Admin or user can trigger immediate refresh.</a:t>
            </a:r>
            <a:br/>
            <a:r>
              <a:t>Per-table or bulk refresh for entire connection.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Enterprise-Grade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82F6"/>
                </a:solidFill>
                <a:latin typeface="Segoe UI"/>
              </a:defRPr>
            </a:pPr>
            <a:r>
              <a:t>Active Directory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LDAP/AD integration for user authentication.</a:t>
            </a:r>
            <a:br/>
            <a:r>
              <a:t>Session management with configurable TTL.</a:t>
            </a:r>
            <a:br/>
            <a:r>
              <a:t>Seamless SSO for corporate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383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Credential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All connection credentials encrypted at rest</a:t>
            </a:r>
            <a:br/>
            <a:r>
              <a:t>using Fernet symmetric encryption.</a:t>
            </a:r>
            <a:br/>
            <a:r>
              <a:t>API never exposes raw credentials.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828800"/>
            <a:ext cx="33832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Query Versioning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77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Full version history for every saved query.</a:t>
            </a:r>
            <a:br/>
            <a:r>
              <a:t>Change tracking with author and timestamp.</a:t>
            </a:r>
            <a:br/>
            <a:r>
              <a:t>One-click rollback to any version.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338328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319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9767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Structured JSON logging of all operations.</a:t>
            </a:r>
            <a:br/>
            <a:r>
              <a:t>Query execution history with timing metrics.</a:t>
            </a:r>
            <a:br/>
            <a:r>
              <a:t>Prometheus metrics for monitoring.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49039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383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9319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7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Configurable rate limits per endpoint.</a:t>
            </a:r>
            <a:br/>
            <a:r>
              <a:t>50 concurrent queries global limit.</a:t>
            </a:r>
            <a:br/>
            <a:r>
              <a:t>10 per-user concurrent query limit.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749039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3749039"/>
            <a:ext cx="338328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9319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Segoe UI"/>
              </a:defRPr>
            </a:pPr>
            <a:r>
              <a:t>Container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29767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Non-root Docker container. Read-only filesystem.</a:t>
            </a:r>
            <a:br/>
            <a:r>
              <a:t>nginx TLS termination with security headers.</a:t>
            </a:r>
            <a:br/>
            <a:r>
              <a:t>OpenShift-compatible security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Three-phase plan to scale from 10 users to enterprise-wide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3832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1097280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Worker Pod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Separate DuckDB worker pods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NFS shared storage for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Oracle queue for job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399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4 CPU / 16 GB per worker pod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5074920"/>
            <a:ext cx="1920240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50932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10-50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657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286000"/>
            <a:ext cx="33832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2468880"/>
            <a:ext cx="1097280" cy="32004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487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Distributed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3832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Redis for session &amp; cache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03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Multiple API pod replicas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Sticky WebSocket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343399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Horizontal pod autoscaling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5074920"/>
            <a:ext cx="1920240" cy="32004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50932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50-200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657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82F6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286000"/>
            <a:ext cx="33832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2468880"/>
            <a:ext cx="1097280" cy="320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487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Event-Driven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3832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Kafka for job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703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KEDA auto-scale workers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023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Multi-region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43399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Unlimited horizontal scale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5074920"/>
            <a:ext cx="1920240" cy="320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50932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200+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Demo Walkthrough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" y="2331720"/>
            <a:ext cx="54864" cy="320040"/>
          </a:xfrm>
          <a:prstGeom prst="rect">
            <a:avLst/>
          </a:prstGeom>
          <a:solidFill>
            <a:srgbClr val="33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Login &amp;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Active Directory login. Sidebar navigation.</a:t>
            </a:r>
            <a:br/>
            <a:r>
              <a:t>Responsive layout on laptop and large monitor.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" y="3108960"/>
            <a:ext cx="54864" cy="320040"/>
          </a:xfrm>
          <a:prstGeom prst="rect">
            <a:avLst/>
          </a:prstGeom>
          <a:solidFill>
            <a:srgbClr val="33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Connection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Create S3 connection with Iceberg tables.</a:t>
            </a:r>
            <a:br/>
            <a:r>
              <a:t>Automatic table discovery and schema detection.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4290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3886200"/>
            <a:ext cx="54864" cy="320040"/>
          </a:xfrm>
          <a:prstGeom prst="rect">
            <a:avLst/>
          </a:prstGeom>
          <a:solidFill>
            <a:srgbClr val="33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Visual Query 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03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Select tables, columns, filters, joins.</a:t>
            </a:r>
            <a:br/>
            <a:r>
              <a:t>Iceberg partition selection with cached metadata.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5568" y="4663440"/>
            <a:ext cx="54864" cy="320040"/>
          </a:xfrm>
          <a:prstGeom prst="rect">
            <a:avLst/>
          </a:prstGeom>
          <a:solidFill>
            <a:srgbClr val="33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Execute &amp;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Instant preview of first 500 rows.</a:t>
            </a:r>
            <a:br/>
            <a:r>
              <a:t>Full dataset loads in background.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98348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5568" y="5440680"/>
            <a:ext cx="54864" cy="320040"/>
          </a:xfrm>
          <a:prstGeom prst="rect">
            <a:avLst/>
          </a:prstGeom>
          <a:solidFill>
            <a:srgbClr val="33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Export &amp; 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Export to CSV, Excel, JSON, or Parquet.</a:t>
            </a:r>
            <a:br/>
            <a:r>
              <a:t>Download Center with file management.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7607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88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Schedule &amp; Automate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Create cron schedule. Configure email recipients.</a:t>
            </a:r>
            <a:br/>
            <a:r>
              <a:t>Automatic report generation and delivery.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1828800"/>
            <a:ext cx="45720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2011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82F6"/>
                </a:solidFill>
                <a:latin typeface="Segoe UI"/>
              </a:defRPr>
            </a:pPr>
            <a:r>
              <a:t>KEY TALKING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Self-service — analysts don't need engineering help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9077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6 data sources unified in one browser tab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3467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Iceberg partition pruning = fast queries on huge datasets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78561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Scheduling eliminates manual report runs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2245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AD authentication — no new passwords for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663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Production-ready today for 10-15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102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Scaling roadmap to 200+ users planned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54126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Zero external dependency — runs on existing OpenShift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Segoe UI"/>
              </a:defRPr>
            </a:pPr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Query Studio Brings to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A unified layer on top of your existing data platforms — not a replacement.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4864" cy="16459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Segoe UI"/>
              </a:defRPr>
            </a:pPr>
            <a:r>
              <a:t>Unified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One browser tab to query S3 Iceberg,</a:t>
            </a:r>
            <a:br/>
            <a:r>
              <a:t>Snowflake, Databricks, Trino, and Oracle.</a:t>
            </a:r>
            <a:br/>
            <a:r>
              <a:t>No tool switching. No context switching.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9456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194560"/>
            <a:ext cx="54864" cy="1645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Self-Service for Analysts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Visual query builder — no SQL needed.</a:t>
            </a:r>
            <a:br/>
            <a:r>
              <a:t>Select columns, add filters, pick partitions.</a:t>
            </a:r>
            <a:br/>
            <a:r>
              <a:t>Analysts don't wait on engineering.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19456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194560"/>
            <a:ext cx="54864" cy="1645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One-Click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Download results as CSV, Excel, JSON,</a:t>
            </a:r>
            <a:br/>
            <a:r>
              <a:t>or Parquet. Click a button — done.</a:t>
            </a:r>
            <a:br/>
            <a:r>
              <a:t>No Python scripts, no CLI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4864" cy="1645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97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Automated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63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Schedule any query to run daily, weekly,</a:t>
            </a:r>
            <a:br/>
            <a:r>
              <a:t>or monthly. Results emailed to stakeholders</a:t>
            </a:r>
            <a:br/>
            <a:r>
              <a:t>automatically. No manual effort.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11480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4114800"/>
            <a:ext cx="54864" cy="1645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Segoe UI"/>
              </a:defRPr>
            </a:pPr>
            <a:r>
              <a:t>Cross-Source Joins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663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Join an S3 Iceberg fact table with a</a:t>
            </a:r>
            <a:br/>
            <a:r>
              <a:t>Snowflake dimension table in one query.</a:t>
            </a:r>
            <a:br/>
            <a:r>
              <a:t>Something no existing tool can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114800"/>
            <a:ext cx="3383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4114800"/>
            <a:ext cx="54864" cy="1645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297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Zero Additional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663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Runs on existing OpenShift infrastructure.</a:t>
            </a:r>
            <a:br/>
            <a:r>
              <a:t>No per-query compute charges.</a:t>
            </a:r>
            <a:br/>
            <a:r>
              <a:t>No new vendor licenses needed.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Query Studio makes your existing data investments more accessible to everyone in the organization.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73152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45720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18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Go-Live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930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Deploy to OpenShift for pilot group (10-15 users)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40480"/>
            <a:ext cx="457200" cy="384048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587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Feedback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330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Collect user feedback over 2-4 weeks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480560"/>
            <a:ext cx="457200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988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Phase 1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73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Introduce worker pods for higher concurrency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120639"/>
            <a:ext cx="457200" cy="3840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38927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Enterprise Rollout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1324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Expand to wider teams with AD group-based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560320"/>
            <a:ext cx="2590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egoe UI"/>
              </a:defRPr>
            </a:pPr>
            <a:r>
              <a:t>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566160"/>
            <a:ext cx="2590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Query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114800"/>
            <a:ext cx="2590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